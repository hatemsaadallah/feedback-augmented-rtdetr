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temSaadallah/feedback-augmented-rtdetr" TargetMode="External"/><Relationship Id="rId3" Type="http://schemas.openxmlformats.org/officeDocument/2006/relationships/hyperlink" Target="https://github.com/HatemSaadallah/feedback-augmented-rtdetr/blob/main/report/main.pdf" TargetMode="External"/><Relationship Id="rId4" Type="http://schemas.openxmlformats.org/officeDocument/2006/relationships/hyperlink" Target="https://github.com/HatemSaadallah/feedback-augmented-rtdetr/blob/main/rtdetr_pytorch/tools/full_ablation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Helvetica"/>
              </a:rPr>
              <a:t>COMPUTER VISION AND IMAGE PROCESSING — BOCCONI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A1A2E"/>
                </a:solidFill>
                <a:latin typeface="Helvetica"/>
              </a:rPr>
              <a:t>Feedback-Augmented RT-DETR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55566"/>
                </a:solidFill>
                <a:latin typeface="Helvetica"/>
              </a:rPr>
              <a:t>A Cross-Attention Refinement Strategy for Enhanced Small-Object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Helvetica"/>
              </a:rPr>
              <a:t>Hatem Saadallah  ·  Nour Jennane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Helvetica"/>
              </a:rPr>
              <a:t>Final Project ·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228600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The problem: small objects in RT-DETR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Helvetica"/>
              </a:rPr>
              <a:t>RT-DETR is fast and NMS-free — but small-object AP lags.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Helvetica"/>
              </a:rPr>
              <a:t>AP_S (small)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D62C2E"/>
                </a:solidFill>
                <a:latin typeface="Helvetica"/>
              </a:rPr>
              <a:t>34.7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Helvetica"/>
              </a:rPr>
              <a:t>AP_L (large)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974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2CA02C"/>
                </a:solidFill>
                <a:latin typeface="Helvetica"/>
              </a:rPr>
              <a:t>67.7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Helvetica"/>
              </a:rPr>
              <a:t>33-point gap on the same model. 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6766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Helvetica"/>
              </a:rPr>
              <a:t>Encoder memory is computed once before any decoder layer fires.
It is never refined as the decoder accumulates information.
Small objects need every available cue at every layer.</a:t>
            </a:r>
          </a:p>
        </p:txBody>
      </p:sp>
      <p:pic>
        <p:nvPicPr>
          <p:cNvPr id="11" name="Picture 10" descr="viz_00000000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206240" cy="1129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The idea: feed early predictions back into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elvetica"/>
              </a:rPr>
              <a:t>After decoder layer 1, refine encoder memory using its own predictions.</a:t>
            </a:r>
          </a:p>
        </p:txBody>
      </p:sp>
      <p:pic>
        <p:nvPicPr>
          <p:cNvPr id="5" name="Picture 4" descr="feedback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77440"/>
            <a:ext cx="8503920" cy="6786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555566"/>
                </a:solidFill>
                <a:latin typeface="Helvetica"/>
              </a:rPr>
              <a:t>Cross-attention with a learnable scalar gate g_eff.</a:t>
            </a:r>
          </a:p>
        </p:txBody>
      </p:sp>
      <p:pic>
        <p:nvPicPr>
          <p:cNvPr id="7" name="Picture 6" descr="memory_sh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37760"/>
            <a:ext cx="10698480" cy="706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Helvetica"/>
              </a:rPr>
              <a:t>75% of memory tokens live at stride 4 — the natural resolution for small objects.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v1: the mechanism trained — but contributed nothing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elvetica"/>
              </a:rPr>
              <a:t>Same-checkpoint inference ablation on COCO val2017 @ 640:</a:t>
            </a:r>
          </a:p>
        </p:txBody>
      </p:sp>
      <p:pic>
        <p:nvPicPr>
          <p:cNvPr id="5" name="Picture 4" descr="v1_sil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60320"/>
            <a:ext cx="8503920" cy="1061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Helvetica"/>
              </a:rPr>
              <a:t>Toggling feedback on/off at inference made zero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Helvetica"/>
              </a:rPr>
              <a:t>The cross-attention weights were trained, but the gate had decayed to ≈0.12 during training.
The feedback signal was being multiplied by ~zero before reaching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Diagnosis: the gate had an escape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Helvetica"/>
              </a:rPr>
              <a:t>Plain sigmoid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Helvetica"/>
              </a:rPr>
              <a:t>• Gradient → 0 as α → −∞
• If the rest of the network can compensate, the optimizer
  pushes α arbitrarily negative at no cost.
• Nothing pulls the gate back up.</a:t>
            </a:r>
          </a:p>
        </p:txBody>
      </p:sp>
      <p:pic>
        <p:nvPicPr>
          <p:cNvPr id="6" name="Picture 5" descr="gate_re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852160" cy="35530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Fix 1: gate floor reparameterization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te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822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Helvetica"/>
              </a:rPr>
              <a:t>Bound the effective gate below by a floor. The optimizer can attenuate, never silence.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F6FEB"/>
                </a:solidFill>
                <a:latin typeface="Helvetica"/>
              </a:rPr>
              <a:t>floor = 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Helvetica"/>
              </a:rPr>
              <a:t>v2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297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Helvetica"/>
              </a:rPr>
              <a:t>α_init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937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Helvetica"/>
              </a:rPr>
              <a:t>→ g_eff = 0.55 at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97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A02C"/>
                </a:solidFill>
                <a:latin typeface="Helvetica"/>
              </a:rPr>
              <a:t>0 new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937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Helvetica"/>
              </a:rPr>
              <a:t>purely a reparameterization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Fix 2: refine only where small objects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vel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930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Helvetica"/>
              </a:rPr>
              <a:t>P2 (stride 4) and P3 (stride 8) carry small-object signal. S4/S5 pass through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2743200" cy="1828800"/>
          </a:xfrm>
          <a:prstGeom prst="roundRect">
            <a:avLst/>
          </a:prstGeom>
          <a:solidFill>
            <a:srgbClr val="E8F1FF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F6FEB"/>
                </a:solidFill>
                <a:latin typeface="Helvetica"/>
              </a:rPr>
              <a:t>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Menlo"/>
              </a:rPr>
              <a:t>160×160 = 25,600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566"/>
                </a:solidFill>
                <a:latin typeface="Helvetica"/>
              </a:rPr>
              <a:t>stride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Helvetica"/>
              </a:rPr>
              <a:t>✓ refined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114800"/>
            <a:ext cx="2743200" cy="1828800"/>
          </a:xfrm>
          <a:prstGeom prst="roundRect">
            <a:avLst/>
          </a:prstGeom>
          <a:solidFill>
            <a:srgbClr val="E8F1FF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29000" y="4251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F6FEB"/>
                </a:solidFill>
                <a:latin typeface="Helvetica"/>
              </a:rPr>
              <a:t>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Menlo"/>
              </a:rPr>
              <a:t>80×80  =  6,400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166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566"/>
                </a:solidFill>
                <a:latin typeface="Helvetica"/>
              </a:rPr>
              <a:t>stride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Helvetica"/>
              </a:rPr>
              <a:t>✓ refined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2743200" cy="18288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55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59" y="4251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555566"/>
                </a:solidFill>
                <a:latin typeface="Helvetica"/>
              </a:rP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Menlo"/>
              </a:rPr>
              <a:t>40×40  =  1,600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166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566"/>
                </a:solidFill>
                <a:latin typeface="Helvetica"/>
              </a:rPr>
              <a:t>stride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Helvetica"/>
              </a:rPr>
              <a:t>— skipped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4114800"/>
            <a:ext cx="2743200" cy="1828800"/>
          </a:xfrm>
          <a:prstGeom prst="roundRect">
            <a:avLst/>
          </a:prstGeom>
          <a:solidFill>
            <a:srgbClr val="F5F5F7"/>
          </a:solidFill>
          <a:ln w="9525">
            <a:solidFill>
              <a:srgbClr val="55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89719" y="4251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555566"/>
                </a:solidFill>
                <a:latin typeface="Helvetica"/>
              </a:rP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Menlo"/>
              </a:rPr>
              <a:t>20×20  =    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5166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5566"/>
                </a:solidFill>
                <a:latin typeface="Helvetica"/>
              </a:rPr>
              <a:t>stride 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Helvetica"/>
              </a:rPr>
              <a:t>— skipped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Result: the mechanism is now causally measurable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2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03920" cy="94162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OFF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Δ (causal)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2E"/>
                          </a:solidFill>
                          <a:latin typeface="Helvetica"/>
                        </a:rPr>
                        <a:t>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52.10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51.53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CA02C"/>
                          </a:solidFill>
                          <a:latin typeface="Helvetica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2E"/>
                          </a:solidFill>
                          <a:latin typeface="Helvetica"/>
                        </a:rPr>
                        <a:t>AP_S</a:t>
                      </a:r>
                    </a:p>
                  </a:txBody>
                  <a:tcPr>
                    <a:solidFill>
                      <a:srgbClr val="E8F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34.25</a:t>
                      </a:r>
                    </a:p>
                  </a:txBody>
                  <a:tcPr>
                    <a:solidFill>
                      <a:srgbClr val="E8F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33.26</a:t>
                      </a:r>
                    </a:p>
                  </a:txBody>
                  <a:tcPr>
                    <a:solidFill>
                      <a:srgbClr val="E8F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CA02C"/>
                          </a:solidFill>
                          <a:latin typeface="Helvetica"/>
                        </a:rPr>
                        <a:t>+0.99</a:t>
                      </a:r>
                    </a:p>
                  </a:txBody>
                  <a:tcPr>
                    <a:solidFill>
                      <a:srgbClr val="E8F7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2E"/>
                          </a:solidFill>
                          <a:latin typeface="Helvetica"/>
                        </a:rPr>
                        <a:t>AP_M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55.91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CA02C"/>
                          </a:solidFill>
                          <a:latin typeface="Helvetica"/>
                        </a:rPr>
                        <a:t>+0.42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A1A2E"/>
                          </a:solidFill>
                          <a:latin typeface="Helvetica"/>
                        </a:rPr>
                        <a:t>AP_L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68.82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2E"/>
                          </a:solidFill>
                          <a:latin typeface="Helvetica"/>
                        </a:rPr>
                        <a:t>68.32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CA02C"/>
                          </a:solidFill>
                          <a:latin typeface="Helvetica"/>
                        </a:rPr>
                        <a:t>+0.50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blation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08960"/>
            <a:ext cx="5852160" cy="2487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Helvetica"/>
              </a:rPr>
              <a:t>Same checkpoint, only inference-time toggle. AP_S @ 800 reaches 37.01.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v2 climbs faster and ends higher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675120" cy="4052751"/>
          </a:xfrm>
          <a:prstGeom prst="rect">
            <a:avLst/>
          </a:prstGeom>
        </p:spPr>
      </p:pic>
      <p:pic>
        <p:nvPicPr>
          <p:cNvPr id="5" name="Picture 4" descr="gate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280160"/>
            <a:ext cx="4480560" cy="2720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7607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Helvetica"/>
              </a:rPr>
              <a:t>v2 first crosses v1's eventual final 33.91 at epoch 8 — four epochs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5760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Helvetica"/>
              </a:rPr>
              <a:t>Gate stays at ≈0.39 (well above the 0.1 floor).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6FEB"/>
                </a:solidFill>
                <a:latin typeface="Helvetica"/>
              </a:rPr>
              <a:t>Limitations and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54864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Helvetica"/>
              </a:rPr>
              <a:t>Limitations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130552"/>
            <a:ext cx="91440" cy="914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9436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Helvetica"/>
              </a:rPr>
              <a:t>13 epochs</a:t>
            </a:r>
            <a:r>
              <a:rPr sz="1300">
                <a:solidFill>
                  <a:srgbClr val="555566"/>
                </a:solidFill>
                <a:latin typeface="Helvetica"/>
              </a:rPr>
              <a:t> instead of the 72 of the standard 6× schedule (compute-limited finetune from public weights).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724912"/>
            <a:ext cx="91440" cy="914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59436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Helvetica"/>
              </a:rPr>
              <a:t>Single seed</a:t>
            </a:r>
            <a:r>
              <a:rPr sz="1300">
                <a:solidFill>
                  <a:srgbClr val="555566"/>
                </a:solidFill>
                <a:latin typeface="Helvetica"/>
              </a:rPr>
              <a:t> — multi-seed reproducibility study is open.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319272"/>
            <a:ext cx="91440" cy="914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59436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Helvetica"/>
              </a:rPr>
              <a:t>Floor &amp; mask not isolated</a:t>
            </a:r>
            <a:r>
              <a:rPr sz="1300">
                <a:solidFill>
                  <a:srgbClr val="555566"/>
                </a:solidFill>
                <a:latin typeface="Helvetica"/>
              </a:rPr>
              <a:t> — a 2×2 ablation would resolve.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913631"/>
            <a:ext cx="91440" cy="914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59436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Helvetica"/>
              </a:rPr>
              <a:t>2× slower than baseline</a:t>
            </a:r>
            <a:r>
              <a:rPr sz="1300">
                <a:solidFill>
                  <a:srgbClr val="555566"/>
                </a:solidFill>
                <a:latin typeface="Helvetica"/>
              </a:rPr>
              <a:t> — cost is from the P2 stride-4 level, not the feedback module.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507992"/>
            <a:ext cx="91440" cy="914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59436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Helvetica"/>
              </a:rPr>
              <a:t>COCO only</a:t>
            </a:r>
            <a:r>
              <a:rPr sz="1300">
                <a:solidFill>
                  <a:srgbClr val="555566"/>
                </a:solidFill>
                <a:latin typeface="Helvetica"/>
              </a:rPr>
              <a:t> — aerial / surveillance datasets are obvious next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371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Helvetica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"/>
              </a:rPr>
              <a:t>📦  GitHub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31720"/>
            <a:ext cx="49377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u="sng">
                <a:solidFill>
                  <a:srgbClr val="1F6FEB"/>
                </a:solidFill>
                <a:latin typeface="Helvetica"/>
                <a:hlinkClick r:id="rId2"/>
              </a:rPr>
              <a:t>github.com/HatemSaadallah/feedback-augmented-rtdetr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"/>
              </a:rPr>
              <a:t>📄  Full 16-page report (PDF)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46120"/>
            <a:ext cx="49377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u="sng">
                <a:solidFill>
                  <a:srgbClr val="1F6FEB"/>
                </a:solidFill>
                <a:latin typeface="Helvetica"/>
                <a:hlinkClick r:id="rId3"/>
              </a:rPr>
              <a:t>report/main.pdf  ·  view on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94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"/>
              </a:rPr>
              <a:t>🔬  Reproduce the ablation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160520"/>
            <a:ext cx="493776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u="sng">
                <a:solidFill>
                  <a:srgbClr val="1F6FEB"/>
                </a:solidFill>
                <a:latin typeface="Helvetica"/>
                <a:hlinkClick r:id="rId4"/>
              </a:rPr>
              <a:t>tools/full_ablation.py  →  --feedback-off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709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Helvetica"/>
              </a:rPr>
              <a:t>🏛  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Helvetica"/>
              </a:rPr>
              <a:t>Computer Vision and Image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Helvetica"/>
              </a:rPr>
              <a:t>Bocconi University — MSc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6FEB"/>
                </a:solidFill>
                <a:latin typeface="Helvetica"/>
              </a:rPr>
              <a:t>Thank you. Questions welcome.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Helvetica"/>
              </a:rPr>
              <a:t>Feedback-Augmented RT-DETR  •  Hatem Saadallah &amp; Nour Jennane  •  Bocconi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Helvetica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