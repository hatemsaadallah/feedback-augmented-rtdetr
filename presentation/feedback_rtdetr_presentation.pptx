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  <a:latin typeface="Helvetica"/>
              </a:rPr>
              <a:t>BOCCONI UNIVERSITY  ·  COMPUTER VISION &amp; IMAGE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423160"/>
            <a:ext cx="228600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1A1A2E"/>
                </a:solidFill>
                <a:latin typeface="Helvetica"/>
              </a:rPr>
              <a:t>Feedback-Augmented RT-DETR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666677"/>
                </a:solidFill>
                <a:latin typeface="Helvetica"/>
              </a:rPr>
              <a:t>for Small 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Helvetica"/>
              </a:rPr>
              <a:t>Hatem Saadallah  · 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77"/>
                </a:solidFill>
                <a:latin typeface="Helvetica"/>
              </a:rPr>
              <a:t>Final Project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SECTION  1  / 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2E"/>
                </a:solidFill>
                <a:latin typeface="Helvetica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66677"/>
                </a:solidFill>
                <a:latin typeface="Helvetica"/>
              </a:rPr>
              <a:t>What is small-object detection, and why does RT-DETR struggle?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1. Problem Formulation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Small objects are harder to detect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0000000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400800" cy="1718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6677"/>
                </a:solidFill>
                <a:latin typeface="Helvetica"/>
              </a:rPr>
              <a:t>AP</a:t>
            </a:r>
            <a:r>
              <a:rPr sz="1500" b="0" i="0" baseline="-25000">
                <a:solidFill>
                  <a:srgbClr val="666677"/>
                </a:solidFill>
                <a:latin typeface="Helvetica"/>
              </a:rPr>
              <a:t>L</a:t>
            </a:r>
            <a:r>
              <a:rPr sz="1500" b="0" i="0">
                <a:solidFill>
                  <a:srgbClr val="666677"/>
                </a:solidFill>
                <a:latin typeface="Helvetica"/>
              </a:rPr>
              <a:t> (large)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194560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 i="0">
                <a:solidFill>
                  <a:srgbClr val="2CA02C"/>
                </a:solidFill>
                <a:latin typeface="Helvetica"/>
              </a:rPr>
              <a:t>67.7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3657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6677"/>
                </a:solidFill>
                <a:latin typeface="Helvetica"/>
              </a:rPr>
              <a:t>AP</a:t>
            </a:r>
            <a:r>
              <a:rPr sz="1500" b="0" i="0" baseline="-25000">
                <a:solidFill>
                  <a:srgbClr val="666677"/>
                </a:solidFill>
                <a:latin typeface="Helvetica"/>
              </a:rPr>
              <a:t>S</a:t>
            </a:r>
            <a:r>
              <a:rPr sz="1500" b="0" i="0">
                <a:solidFill>
                  <a:srgbClr val="666677"/>
                </a:solidFill>
                <a:latin typeface="Helvetica"/>
              </a:rPr>
              <a:t> (small)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023360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 i="0">
                <a:solidFill>
                  <a:srgbClr val="D62C2E"/>
                </a:solidFill>
                <a:latin typeface="Helvetica"/>
              </a:rPr>
              <a:t>34.7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4864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A2E"/>
                </a:solidFill>
                <a:latin typeface="Helvetica"/>
              </a:rPr>
              <a:t>33-point gap. 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1. Problem Formulation  •  Feedback-Augmented RT-DETR  •  Hatem Saadallah &amp; Nour Jennane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RT-DETR: backbone → encoder → 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_rtde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4089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Helvetica"/>
              </a:rPr>
              <a:t>End-to-end, NMS-free. Six decoder layers all attend over the same encoder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77"/>
                </a:solidFill>
                <a:latin typeface="Helvetica"/>
              </a:rPr>
              <a:t>Backbone extracts a feature pyramid (P2–P5); the hybrid encoder fuses scales; the decoder cross-attends.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1. Problem Formulation  •  Feedback-Augmented RT-DETR  •  Hatem Saadallah &amp; Nour Jennane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The reason is structural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698480" cy="2415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Helvetica"/>
              </a:rPr>
              <a:t>Encoder memory is computed once. The decoder cannot revise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66677"/>
                </a:solidFill>
                <a:latin typeface="Helvetica"/>
              </a:rPr>
              <a:t>Refinement of the features small objects live in is a one-way street.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1. Problem Formulation  •  Feedback-Augmented RT-DETR  •  Hatem Saadallah &amp; Nour Jennane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SECTION  2  / 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2E"/>
                </a:solidFill>
                <a:latin typeface="Helvetica"/>
              </a:rPr>
              <a:t>Data Sourcing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66677"/>
                </a:solidFill>
                <a:latin typeface="Helvetica"/>
              </a:rPr>
              <a:t>What dataset we used and why it is appropriate.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2. Data Sourcing Strategy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COCO 2017 — the standard small-object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760720" cy="420624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Helvetica"/>
              </a:rPr>
              <a:t>Microsoft COCO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Splits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enlo"/>
              </a:rPr>
              <a:t>train2017:  118k images, 860k 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enlo"/>
              </a:rPr>
              <a:t>val2017:        5k images   (held 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Pre-trained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enlo"/>
              </a:rPr>
              <a:t>rtdetr_r50vd_6x_coco.pth  (public, finetuned 13 ep)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554480"/>
            <a:ext cx="4846320" cy="4206240"/>
          </a:xfrm>
          <a:prstGeom prst="roundRect">
            <a:avLst/>
          </a:prstGeom>
          <a:solidFill>
            <a:srgbClr val="E8F1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83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6FEB"/>
                </a:solidFill>
                <a:latin typeface="Helvetica"/>
              </a:rPr>
              <a:t>Why COCO?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7744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Standard benchmark — directly comparable to RT-DETR, DETR, YOLO.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Has explicit small / medium / large size buckets (S / M / 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9319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~41% of annotated boxes are small (area &lt; 32² px).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7091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Same pre-training corpus as our baseline → fair comparison.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2. Data Sourcing Strategy  •  Feedback-Augmented RT-DETR  •  Hatem Saadallah &amp; Nour Jennane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SECTION  3  / 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2E"/>
                </a:solidFill>
                <a:latin typeface="Helvetica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66677"/>
                </a:solidFill>
                <a:latin typeface="Helvetica"/>
              </a:rPr>
              <a:t>The feedback module, the math behind it, and the two fixes that make it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3. Proposed Solution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Our idea: let the model refine its own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1801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Helvetica"/>
              </a:rPr>
              <a:t>Feed early decoder predictions back into the encoder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3. Proposed Solution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Attention, in one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875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3. Proposed Solution  •  Feedback-Augmented RT-DETR  •  Hatem Saadallah &amp; Nour Jennane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Our feedback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875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3. Proposed Solution  •  Feedback-Augmented RT-DETR  •  Hatem Saadallah &amp; Nour Jennane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First attempt (v1) — and why it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1A1A2E"/>
                </a:solidFill>
                <a:latin typeface="Helvetica"/>
              </a:rPr>
              <a:t>Plain sigmoid gate, applied to all four pyramid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D62C2E"/>
                </a:solidFill>
                <a:latin typeface="Helvetica"/>
              </a:rPr>
              <a:t>Δ AP</a:t>
            </a:r>
            <a:r>
              <a:rPr sz="5600" b="1" i="0" baseline="-25000">
                <a:solidFill>
                  <a:srgbClr val="D62C2E"/>
                </a:solidFill>
                <a:latin typeface="Helvetica"/>
              </a:rPr>
              <a:t>S</a:t>
            </a:r>
            <a:r>
              <a:rPr sz="5600" b="1" i="0">
                <a:solidFill>
                  <a:srgbClr val="D62C2E"/>
                </a:solidFill>
                <a:latin typeface="Helvetica"/>
              </a:rPr>
              <a:t>  =  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666677"/>
                </a:solidFill>
                <a:latin typeface="Helvetica"/>
              </a:rPr>
              <a:t>the mechanism contributed nothing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Helvetica"/>
              </a:rPr>
              <a:t>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83464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Helvetica"/>
              </a:rPr>
              <a:t>α drifts to −∞ → gate ≈ 0.
The feedback signal is multiplied by zero before reaching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3. Proposed Solution  •  Feedback-Augmented RT-DETR  •  Hatem Saadallah &amp; Nour Jennane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v2: two fixes — zero new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_v2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0332720" cy="343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1A1A2E"/>
                </a:solidFill>
                <a:latin typeface="Helvetica"/>
              </a:rPr>
              <a:t>Reparameterize the gate. Refine only the levels small objects live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3. Proposed Solution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SECTION  4  / 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2E"/>
                </a:solidFill>
                <a:latin typeface="Helvetica"/>
              </a:rPr>
              <a:t>Performance Evaluation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66677"/>
                </a:solidFill>
                <a:latin typeface="Helvetica"/>
              </a:rPr>
              <a:t>Metrics, baselines, and the same-checkpoint ablation that isolates causality.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4. Evaluation Approach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How we evaluate the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169164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Helvetica"/>
              </a:rPr>
              <a:t>Metrics  (COCO standard)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Helvetica"/>
              </a:rPr>
              <a:t>AP, AP</a:t>
            </a:r>
            <a:r>
              <a:rPr sz="1300" b="0" i="0" baseline="-25000">
                <a:solidFill>
                  <a:srgbClr val="1A1A2E"/>
                </a:solidFill>
                <a:latin typeface="Helvetica"/>
              </a:rPr>
              <a:t>S</a:t>
            </a:r>
            <a:r>
              <a:rPr sz="1300" b="0" i="0">
                <a:solidFill>
                  <a:srgbClr val="1A1A2E"/>
                </a:solidFill>
                <a:latin typeface="Helvetica"/>
              </a:rPr>
              <a:t>, AP</a:t>
            </a:r>
            <a:r>
              <a:rPr sz="1300" b="0" i="0" baseline="-25000">
                <a:solidFill>
                  <a:srgbClr val="1A1A2E"/>
                </a:solidFill>
                <a:latin typeface="Helvetica"/>
              </a:rPr>
              <a:t>M</a:t>
            </a:r>
            <a:r>
              <a:rPr sz="1300" b="0" i="0">
                <a:solidFill>
                  <a:srgbClr val="1A1A2E"/>
                </a:solidFill>
                <a:latin typeface="Helvetica"/>
              </a:rPr>
              <a:t>, AP</a:t>
            </a:r>
            <a:r>
              <a:rPr sz="1300" b="0" i="0" baseline="-25000">
                <a:solidFill>
                  <a:srgbClr val="1A1A2E"/>
                </a:solidFill>
                <a:latin typeface="Helvetica"/>
              </a:rPr>
              <a:t>L</a:t>
            </a:r>
            <a:r>
              <a:rPr sz="1300" b="0" i="0">
                <a:solidFill>
                  <a:srgbClr val="1A1A2E"/>
                </a:solidFill>
                <a:latin typeface="Helvetica"/>
              </a:rPr>
              <a:t>  —  IoU 0.5..0.95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Helvetica"/>
              </a:rPr>
              <a:t>AP</a:t>
            </a:r>
            <a:r>
              <a:rPr sz="1300" b="1" i="0" baseline="-25000">
                <a:solidFill>
                  <a:srgbClr val="1A1A2E"/>
                </a:solidFill>
                <a:latin typeface="Helvetica"/>
              </a:rPr>
              <a:t>S</a:t>
            </a:r>
            <a:r>
              <a:rPr sz="1300" b="1" i="0">
                <a:solidFill>
                  <a:srgbClr val="1A1A2E"/>
                </a:solidFill>
                <a:latin typeface="Helvetica"/>
              </a:rPr>
              <a:t> is the headline metric (area &lt; 32² px)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  <a:latin typeface="Helvetica"/>
              </a:rPr>
              <a:t>Others verify we don't degrade easier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120640" cy="169164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Helvetica"/>
              </a:rPr>
              <a:t>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Helvetica"/>
              </a:rPr>
              <a:t>RT-DETR-R50  (published)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Helvetica"/>
              </a:rPr>
              <a:t>v1 feedback  (before the fix)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Helvetica"/>
              </a:rPr>
              <a:t>v2 feedback  (with the fix)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6FEB"/>
                </a:solidFill>
                <a:latin typeface="Helvetica"/>
              </a:rPr>
              <a:t>Same-checkpoint ablation  —  isolates causal contribution</a:t>
            </a:r>
          </a:p>
        </p:txBody>
      </p:sp>
      <p:pic>
        <p:nvPicPr>
          <p:cNvPr id="15" name="Picture 14" descr="dia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840480"/>
            <a:ext cx="7772400" cy="254665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77"/>
                </a:solidFill>
                <a:latin typeface="Helvetica"/>
              </a:rPr>
              <a:t>Toggle feedback ON / OFF at inference. Identical weights, identical inputs.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4. Evaluation Approach  •  Feedback-Augmented RT-DETR  •  Hatem Saadallah &amp; Nour Jennane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  <a:latin typeface="Helvetica"/>
              </a:rPr>
              <a:t>SECTION  5  / 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2E"/>
                </a:solidFill>
                <a:latin typeface="Helvetica"/>
              </a:rPr>
              <a:t>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66677"/>
                </a:solidFill>
                <a:latin typeface="Helvetica"/>
              </a:rPr>
              <a:t>Training trajectory, the causal effect, robustness, trade-offs, and what's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Training: v2 climbs faster, ends higher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63040"/>
            <a:ext cx="7772400" cy="47189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66677"/>
                </a:solidFill>
                <a:latin typeface="Helvetica"/>
              </a:rPr>
              <a:t>v2 first crosses v1's final 33.91 at epoch 8 — four epochs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Final performance (with feedback 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32004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66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66677"/>
                </a:solidFill>
                <a:latin typeface="Helvetica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666677"/>
                </a:solidFill>
                <a:latin typeface="Helvetica"/>
              </a:rPr>
              <a:t>33.91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66677"/>
                </a:solidFill>
                <a:latin typeface="Helvetica"/>
              </a:rPr>
              <a:t>AP</a:t>
            </a:r>
            <a:r>
              <a:rPr sz="1800" b="0" i="1" baseline="-25000">
                <a:solidFill>
                  <a:srgbClr val="666677"/>
                </a:solidFill>
                <a:latin typeface="Helvetica"/>
              </a:rPr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4846320" cy="3200400"/>
          </a:xfrm>
          <a:prstGeom prst="roundRect">
            <a:avLst/>
          </a:prstGeom>
          <a:solidFill>
            <a:srgbClr val="E8F7E8"/>
          </a:solidFill>
          <a:ln w="2540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CA02C"/>
                </a:solidFill>
                <a:latin typeface="Helvetica"/>
              </a:rPr>
              <a:t>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9748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2CA02C"/>
                </a:solidFill>
                <a:latin typeface="Helvetica"/>
              </a:rPr>
              <a:t>34.30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2CA02C"/>
                </a:solidFill>
                <a:latin typeface="Helvetica"/>
              </a:rPr>
              <a:t>AP</a:t>
            </a:r>
            <a:r>
              <a:rPr sz="1800" b="0" i="1" baseline="-25000">
                <a:solidFill>
                  <a:srgbClr val="2CA02C"/>
                </a:solidFill>
                <a:latin typeface="Helvetica"/>
              </a:rPr>
              <a:t>S</a:t>
            </a:r>
            <a:r>
              <a:rPr sz="1800" b="0" i="1">
                <a:solidFill>
                  <a:srgbClr val="2CA02C"/>
                </a:solidFill>
                <a:latin typeface="Helvetica"/>
              </a:rPr>
              <a:t>    +0.4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Causal effect of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66677"/>
                </a:solidFill>
                <a:latin typeface="Helvetica"/>
              </a:rPr>
              <a:t>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 i="0">
                <a:solidFill>
                  <a:srgbClr val="2CA02C"/>
                </a:solidFill>
                <a:latin typeface="Helvetica"/>
              </a:rPr>
              <a:t>34.25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66677"/>
                </a:solidFill>
                <a:latin typeface="Helvetica"/>
              </a:rPr>
              <a:t>feedback enabled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66677"/>
                </a:solidFill>
                <a:latin typeface="Helvetica"/>
              </a:rPr>
              <a:t>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46888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 i="0">
                <a:solidFill>
                  <a:srgbClr val="666677"/>
                </a:solidFill>
                <a:latin typeface="Helvetica"/>
              </a:rPr>
              <a:t>33.26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754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66677"/>
                </a:solidFill>
                <a:latin typeface="Helvetica"/>
              </a:rPr>
              <a:t>feedback bypassed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66677"/>
                </a:solidFill>
                <a:latin typeface="Helvetica"/>
              </a:rPr>
              <a:t>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 i="0">
                <a:solidFill>
                  <a:srgbClr val="1F6FEB"/>
                </a:solidFill>
                <a:latin typeface="Helvetica"/>
              </a:rPr>
              <a:t>+0.99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754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66677"/>
                </a:solidFill>
                <a:latin typeface="Helvetica"/>
              </a:rPr>
              <a:t>the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Helvetica"/>
              </a:rPr>
              <a:t>Feedback has a real causal impact on small-object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Higher resolution → bigger 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666677"/>
                </a:solidFill>
                <a:latin typeface="Helvetica"/>
              </a:rPr>
              <a:t>640 × 640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1A1A2E"/>
                </a:solidFill>
                <a:latin typeface="Helvetica"/>
              </a:rPr>
              <a:t>34.25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03520" y="3291840"/>
            <a:ext cx="1554480" cy="54864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Helvetica"/>
              </a:rPr>
              <a:t>800 × 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2CA02C"/>
                </a:solidFill>
                <a:latin typeface="Helvetica"/>
              </a:rPr>
              <a:t>37.01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1A1A2E"/>
                </a:solidFill>
                <a:latin typeface="Helvetica"/>
              </a:rPr>
              <a:t>+2.76 from more pixels.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666677"/>
                </a:solidFill>
                <a:latin typeface="Helvetica"/>
              </a:rPr>
              <a:t>Feedback helps. Spatial sampling helps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Strengths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4297680"/>
          </a:xfrm>
          <a:prstGeom prst="roundRect">
            <a:avLst/>
          </a:prstGeom>
          <a:solidFill>
            <a:srgbClr val="E8F7E8"/>
          </a:solidFill>
          <a:ln w="190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  <a:latin typeface="Helvetica"/>
              </a:rPr>
              <a:t>+ 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Causal contribution: +0.99 on small-object AP, same checkpoint.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Zero new parameters relative to v1.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Consistent improvement on every metric (AP, S, M, 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Robust at higher resolution (37.01 small-object AP at 800×800).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6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62C2E"/>
                </a:solidFill>
                <a:latin typeface="Helvetica"/>
              </a:rPr>
              <a:t>− 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Single seed — multi-seed variance unmeasured.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13-epoch finetune (vs 72-epoch from scratch).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233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Floor and mask not isolated (a 2×2 ablation is missing).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Helvetica"/>
              </a:rPr>
              <a:t>•  ≈2× slower than baseline (53 → 26 FPS) — cost is the P2 level.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77"/>
                </a:solidFill>
                <a:latin typeface="Helvetica"/>
              </a:rPr>
              <a:t>Strong on accuracy; pays in inference speed. The next slide proposes a way to recover speed.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Future work: recovering inference speed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1A1A2E"/>
                </a:solidFill>
                <a:latin typeface="Helvetica"/>
              </a:rPr>
              <a:t>The 2× slowdown comes from the P2 level, not the feedback module.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57600" cy="365760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Helvetica"/>
              </a:rPr>
              <a:t>Train with P2, infer without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FEB"/>
                </a:solidFill>
                <a:latin typeface="Helvetica"/>
              </a:rPr>
              <a:t>fastest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Helvetica"/>
              </a:rP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Helvetica"/>
              </a:rPr>
              <a:t>Use P2 during training to improve small-object learning, then remove it at inference.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A02C"/>
                </a:solidFill>
                <a:latin typeface="Helvetica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Helvetica"/>
              </a:rPr>
              <a:t>Keep most of the +0.99 small-object AP gain without the P2 computational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94560"/>
            <a:ext cx="3657600" cy="365760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23317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Helvetica"/>
              </a:rPr>
              <a:t>Lighter P2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FEB"/>
                </a:solidFill>
                <a:latin typeface="Helvetica"/>
              </a:rPr>
              <a:t>compromise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429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Helvetica"/>
              </a:rPr>
              <a:t>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749039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Helvetica"/>
              </a:rPr>
              <a:t>Reduce the cost of P2 — fewer channels, or a simpler projection layer.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A02C"/>
                </a:solidFill>
                <a:latin typeface="Helvetica"/>
              </a:rP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1663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Helvetica"/>
              </a:rPr>
              <a:t>Preserve small-object improvements while reducing the high-resolution P2 slowdown.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194560"/>
            <a:ext cx="3657600" cy="365760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23317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Helvetica"/>
              </a:rPr>
              <a:t>Knowledge distillation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FEB"/>
                </a:solidFill>
                <a:latin typeface="Helvetica"/>
              </a:rPr>
              <a:t>principled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Helvetica"/>
              </a:rPr>
              <a:t>How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49039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Helvetica"/>
              </a:rPr>
              <a:t>Transfer v2's small-object improvements into a faster baseline RT-DETR student.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A02C"/>
                </a:solidFill>
                <a:latin typeface="Helvetica"/>
              </a:rPr>
              <a:t>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663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Helvetica"/>
              </a:rPr>
              <a:t>Recover baseline inference speed while retaining the small-object AP gains learned from P2 feedback.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6FEB"/>
                </a:solidFill>
                <a:latin typeface="Helvetica"/>
              </a:rPr>
              <a:t>Common goal: keep the +0.99 small-object AP gain while approaching the 53 FPS baseline.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6FEB"/>
                </a:solidFill>
                <a:latin typeface="Helvetica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6400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Helvetica"/>
              </a:rPr>
              <a:t>Feedback improves small-object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66677"/>
                </a:solidFill>
                <a:latin typeface="Helvetica"/>
              </a:rPr>
              <a:t>+0.99 small-object AP, causal contribution at inference.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107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Helvetica"/>
              </a:rPr>
              <a:t>Only works with proper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86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66677"/>
                </a:solidFill>
                <a:latin typeface="Helvetica"/>
              </a:rPr>
              <a:t>Floor the gate; restrict to small-object levels.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Helvetica"/>
              </a:rPr>
              <a:t>Modest but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03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66677"/>
                </a:solidFill>
                <a:latin typeface="Helvetica"/>
              </a:rPr>
              <a:t>Consistent across metrics; reproducible from the same checkpoint.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  <a:latin typeface="Helvetica"/>
              </a:rPr>
              <a:t>5. Final Results  •  Feedback-Augmented RT-DETR  •  Hatem Saadallah &amp; Nour Jennane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77"/>
                </a:solidFill>
                <a:latin typeface="Helvetica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1A1A2E"/>
                </a:solidFill>
                <a:latin typeface="Helvetica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 i="0">
                <a:solidFill>
                  <a:srgbClr val="1F6FEB"/>
                </a:solidFill>
                <a:latin typeface="Helvetica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937760"/>
            <a:ext cx="91440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Helvetica"/>
              </a:rPr>
              <a:t>Hatem Saadallah  ·  Nour Jennane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66677"/>
                </a:solidFill>
                <a:latin typeface="Helvetica"/>
              </a:rPr>
              <a:t>github.com/HatemSaadallah/feedback-augmented-rtdetr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