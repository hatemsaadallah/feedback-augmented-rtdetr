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6FEB"/>
                </a:solidFill>
                <a:latin typeface="Helvetica"/>
              </a:rPr>
              <a:t>BOCCONI UNIVERSITY  ·  COMPUTER VISION &amp; IMAGE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423160"/>
            <a:ext cx="228600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1" i="0">
                <a:solidFill>
                  <a:srgbClr val="1A1A2E"/>
                </a:solidFill>
                <a:latin typeface="Helvetica"/>
              </a:rPr>
              <a:t>Feedback-Augmented RT-DETR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033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666677"/>
                </a:solidFill>
                <a:latin typeface="Helvetica"/>
              </a:rPr>
              <a:t>for Small Object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2120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Helvetica"/>
              </a:rPr>
              <a:t>Hatem Saadallah  · 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66677"/>
                </a:solidFill>
                <a:latin typeface="Helvetica"/>
              </a:rPr>
              <a:t>Final Project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SECTION  1  /  5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78892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A1A2E"/>
                </a:solidFill>
                <a:latin typeface="Helvetica"/>
              </a:rPr>
              <a:t>Problem Formulation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666677"/>
                </a:solidFill>
                <a:latin typeface="Helvetica"/>
              </a:rPr>
              <a:t>What is small-object detection, and why does RT-DETR struggle?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1. Problem Formulation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Small objects are harder to detect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iz_000000001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6400800" cy="1718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82880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66677"/>
                </a:solidFill>
                <a:latin typeface="Helvetica"/>
              </a:rPr>
              <a:t>APₗ (large)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2194560"/>
            <a:ext cx="4114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0" b="1" i="0">
                <a:solidFill>
                  <a:srgbClr val="2CA02C"/>
                </a:solidFill>
                <a:latin typeface="Helvetica"/>
              </a:rPr>
              <a:t>67.7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365760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66677"/>
                </a:solidFill>
                <a:latin typeface="Helvetica"/>
              </a:rPr>
              <a:t>APₛ (small)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023360"/>
            <a:ext cx="4114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0" b="1" i="0">
                <a:solidFill>
                  <a:srgbClr val="D62C2E"/>
                </a:solidFill>
                <a:latin typeface="Helvetica"/>
              </a:rPr>
              <a:t>34.7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548640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1A1A2E"/>
                </a:solidFill>
                <a:latin typeface="Helvetica"/>
              </a:rPr>
              <a:t>33-point gap. Why?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1. Problem Formulation  •  Feedback-Augmented RT-DETR  •  Hatem Saadallah &amp; Nour Jennane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RT-DETR: backbone → encoder → decoder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_rtde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11430000" cy="40896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1A1A2E"/>
                </a:solidFill>
                <a:latin typeface="Helvetica"/>
              </a:rPr>
              <a:t>End-to-end, NMS-free. Six decoder layers all attend over the same encoder memory.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666677"/>
                </a:solidFill>
                <a:latin typeface="Helvetica"/>
              </a:rPr>
              <a:t>Backbone extracts a feature pyramid (P2–P5); the hybrid encoder fuses scales; the decoder cross-attends.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1. Problem Formulation  •  Feedback-Augmented RT-DETR  •  Hatem Saadallah &amp; Nour Jennane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The reason is structural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86000"/>
            <a:ext cx="10698480" cy="24151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  <a:latin typeface="Helvetica"/>
              </a:rPr>
              <a:t>Encoder memory is computed once. The decoder cannot revise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Refinement of the features small objects live in is a one-way street.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1. Problem Formulation  •  Feedback-Augmented RT-DETR  •  Hatem Saadallah &amp; Nour Jennane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SECTION  2  /  5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78892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A1A2E"/>
                </a:solidFill>
                <a:latin typeface="Helvetica"/>
              </a:rPr>
              <a:t>Data Sourcing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666677"/>
                </a:solidFill>
                <a:latin typeface="Helvetica"/>
              </a:rPr>
              <a:t>What dataset we used and why it is appropriate.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2. Data Sourcing Strategy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COCO 2017 — the standard small-object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760720" cy="4206240"/>
          </a:xfrm>
          <a:prstGeom prst="roundRect">
            <a:avLst/>
          </a:prstGeom>
          <a:solidFill>
            <a:srgbClr val="F5F5F7"/>
          </a:solidFill>
          <a:ln w="9525">
            <a:solidFill>
              <a:srgbClr val="66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Helvetica"/>
              </a:rPr>
              <a:t>Microsoft COCO 2017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83464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Splits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enlo"/>
              </a:rPr>
              <a:t>train2017:  118k images, 860k boxes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1188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enlo"/>
              </a:rPr>
              <a:t>val2017:        5k images   (held out)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29768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Pre-trained weights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70916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enlo"/>
              </a:rPr>
              <a:t>rtdetr_r50vd_6x_coco.pth  (public, finetuned 13 ep)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554480"/>
            <a:ext cx="4846320" cy="4206240"/>
          </a:xfrm>
          <a:prstGeom prst="roundRect">
            <a:avLst/>
          </a:prstGeom>
          <a:solidFill>
            <a:srgbClr val="E8F1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17830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6FEB"/>
                </a:solidFill>
                <a:latin typeface="Helvetica"/>
              </a:rPr>
              <a:t>Why COCO?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37744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Standard benchmark — directly comparable to RT-DETR, DETR, YOLO.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15468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Has explicit small / medium / large size buckets (APₛ / APₘ / APₗ).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93192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~41% of annotated boxes are small (area &lt; 32² px).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70916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Same pre-training corpus as our baseline → fair comparison.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2. Data Sourcing Strategy  •  Feedback-Augmented RT-DETR  •  Hatem Saadallah &amp; Nour Jennane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SECTION  3  /  5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78892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A1A2E"/>
                </a:solidFill>
                <a:latin typeface="Helvetica"/>
              </a:rPr>
              <a:t>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666677"/>
                </a:solidFill>
                <a:latin typeface="Helvetica"/>
              </a:rPr>
              <a:t>The feedback module, the math behind it, and the two fixes that make it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3. Proposed Solution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Our idea: let the model refine its own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_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10698480" cy="31801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  <a:latin typeface="Helvetica"/>
              </a:rPr>
              <a:t>Feed early decoder predictions back into the encoder memory.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3. Proposed Solution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Attention, in one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th_at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875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3. Proposed Solution  •  Feedback-Augmented RT-DETR  •  Hatem Saadallah &amp; Nour Jennane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Our feedback rule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th_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50118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3. Proposed Solution  •  Feedback-Augmented RT-DETR  •  Hatem Saadallah &amp; Nour Jennane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First attempt (v1) — and why it failed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1A1A2E"/>
                </a:solidFill>
                <a:latin typeface="Helvetica"/>
              </a:rPr>
              <a:t>Plain sigmoid gate, applied to all four pyramid levels.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 i="0">
                <a:solidFill>
                  <a:srgbClr val="D62C2E"/>
                </a:solidFill>
                <a:latin typeface="Helvetica"/>
              </a:rPr>
              <a:t>Δ APₛ  =  0.00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062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666677"/>
                </a:solidFill>
                <a:latin typeface="Helvetica"/>
              </a:rPr>
              <a:t>the mechanism contributed nothing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2860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Helvetica"/>
              </a:rPr>
              <a:t>Why?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834640"/>
            <a:ext cx="512064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Helvetica"/>
              </a:rPr>
              <a:t>α drifts to −∞ → gate ≈ 0.
The feedback signal is multiplied by zero before reaching memory.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3. Proposed Solution  •  Feedback-Augmented RT-DETR  •  Hatem Saadallah &amp; Nour Jennane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v2: two fixes — zero new parameters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_v2_fi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11680"/>
            <a:ext cx="10332720" cy="34389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1A1A2E"/>
                </a:solidFill>
                <a:latin typeface="Helvetica"/>
              </a:rPr>
              <a:t>Reparameterize the gate. Refine only the levels small objects live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3. Proposed Solution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SECTION  4  /  5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78892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A1A2E"/>
                </a:solidFill>
                <a:latin typeface="Helvetica"/>
              </a:rPr>
              <a:t>Performance Evaluation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666677"/>
                </a:solidFill>
                <a:latin typeface="Helvetica"/>
              </a:rPr>
              <a:t>Metrics, baselines, and the same-checkpoint ablation that isolates causality.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4. Evaluation Approach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How we evaluate the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486400" cy="1691640"/>
          </a:xfrm>
          <a:prstGeom prst="roundRect">
            <a:avLst/>
          </a:prstGeom>
          <a:solidFill>
            <a:srgbClr val="F5F5F7"/>
          </a:solidFill>
          <a:ln w="9525">
            <a:solidFill>
              <a:srgbClr val="66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544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6FEB"/>
                </a:solidFill>
                <a:latin typeface="Helvetica"/>
              </a:rPr>
              <a:t>Metrics  (COCO standard)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Helvetica"/>
              </a:rPr>
              <a:t>AP, APₛ, APₘ, APₗ  —  IoU 0.5..0.95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Helvetica"/>
              </a:rPr>
              <a:t>APₛ is the headline metric (area &lt; 32² px)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517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66677"/>
                </a:solidFill>
                <a:latin typeface="Helvetica"/>
              </a:rPr>
              <a:t>Others verify we don't degrade easier categories.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17320"/>
            <a:ext cx="5120640" cy="1691640"/>
          </a:xfrm>
          <a:prstGeom prst="roundRect">
            <a:avLst/>
          </a:prstGeom>
          <a:solidFill>
            <a:srgbClr val="F5F5F7"/>
          </a:solidFill>
          <a:ln w="9525">
            <a:solidFill>
              <a:srgbClr val="66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5544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6FEB"/>
                </a:solidFill>
                <a:latin typeface="Helvetica"/>
              </a:rPr>
              <a:t>Baselines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9202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Helvetica"/>
              </a:rPr>
              <a:t>RT-DETR-R50  (published)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Helvetica"/>
              </a:rPr>
              <a:t>v1 feedback  (before the fix)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517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Helvetica"/>
              </a:rPr>
              <a:t>v2 feedback  (with the fix)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337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1F6FEB"/>
                </a:solidFill>
                <a:latin typeface="Helvetica"/>
              </a:rPr>
              <a:t>Same-checkpoint ablation  —  isolates causal contribution</a:t>
            </a:r>
          </a:p>
        </p:txBody>
      </p:sp>
      <p:pic>
        <p:nvPicPr>
          <p:cNvPr id="15" name="Picture 14" descr="dia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3840480"/>
            <a:ext cx="7772400" cy="254665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666677"/>
                </a:solidFill>
                <a:latin typeface="Helvetica"/>
              </a:rPr>
              <a:t>Toggle feedback ON / OFF at inference. Identical weights, identical inputs.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4. Evaluation Approach  •  Feedback-Augmented RT-DETR  •  Hatem Saadallah &amp; Nour Jennane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6FEB"/>
                </a:solidFill>
                <a:latin typeface="Helvetica"/>
              </a:rPr>
              <a:t>SECTION  5  /  5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78892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A1A2E"/>
                </a:solidFill>
                <a:latin typeface="Helvetica"/>
              </a:rPr>
              <a:t>Final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666677"/>
                </a:solidFill>
                <a:latin typeface="Helvetica"/>
              </a:rPr>
              <a:t>Training trajectory, the causal effect, robustness, trade-offs, and what's next.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Training: v2 climbs faster, ends higher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ear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463040"/>
            <a:ext cx="7772400" cy="47189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v2 first crosses v1's final 33.91 at epoch 8 — four epochs early.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Final performance (with feedback 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4846320" cy="3200400"/>
          </a:xfrm>
          <a:prstGeom prst="roundRect">
            <a:avLst/>
          </a:prstGeom>
          <a:solidFill>
            <a:srgbClr val="F5F5F7"/>
          </a:solidFill>
          <a:ln w="9525">
            <a:solidFill>
              <a:srgbClr val="66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666677"/>
                </a:solidFill>
                <a:latin typeface="Helvetica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48463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 i="0">
                <a:solidFill>
                  <a:srgbClr val="666677"/>
                </a:solidFill>
                <a:latin typeface="Helvetica"/>
              </a:rPr>
              <a:t>33.91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666677"/>
                </a:solidFill>
                <a:latin typeface="Helvetica"/>
              </a:rPr>
              <a:t>APₛ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11680"/>
            <a:ext cx="4846320" cy="3200400"/>
          </a:xfrm>
          <a:prstGeom prst="roundRect">
            <a:avLst/>
          </a:prstGeom>
          <a:solidFill>
            <a:srgbClr val="E8F7E8"/>
          </a:solidFill>
          <a:ln w="25400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94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2CA02C"/>
                </a:solidFill>
                <a:latin typeface="Helvetica"/>
              </a:rPr>
              <a:t>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97480"/>
            <a:ext cx="48463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 i="0">
                <a:solidFill>
                  <a:srgbClr val="2CA02C"/>
                </a:solidFill>
                <a:latin typeface="Helvetica"/>
              </a:rPr>
              <a:t>34.30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5720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2CA02C"/>
                </a:solidFill>
                <a:latin typeface="Helvetica"/>
              </a:rPr>
              <a:t>APₛ    +0.4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Causal effect of feedback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666677"/>
                </a:solidFill>
                <a:latin typeface="Helvetica"/>
              </a:rPr>
              <a:t>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3657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0" b="1" i="0">
                <a:solidFill>
                  <a:srgbClr val="2CA02C"/>
                </a:solidFill>
                <a:latin typeface="Helvetica"/>
              </a:rPr>
              <a:t>34.25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feedback enabled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8288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666677"/>
                </a:solidFill>
                <a:latin typeface="Helvetica"/>
              </a:rPr>
              <a:t>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2468880"/>
            <a:ext cx="3657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0" b="1" i="0">
                <a:solidFill>
                  <a:srgbClr val="666677"/>
                </a:solidFill>
                <a:latin typeface="Helvetica"/>
              </a:rPr>
              <a:t>33.26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7548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feedback bypassed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666677"/>
                </a:solidFill>
                <a:latin typeface="Helvetica"/>
              </a:rPr>
              <a:t>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468880"/>
            <a:ext cx="3657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0" b="1" i="0">
                <a:solidFill>
                  <a:srgbClr val="1F6FEB"/>
                </a:solidFill>
                <a:latin typeface="Helvetica"/>
              </a:rPr>
              <a:t>+0.99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7548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666677"/>
                </a:solidFill>
                <a:latin typeface="Helvetica"/>
              </a:rPr>
              <a:t>the contribution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692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1F6FEB"/>
                </a:solidFill>
                <a:latin typeface="Helvetica"/>
              </a:rPr>
              <a:t>Feedback has a real causal impact on small-object detection.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Higher resolution → bigger gain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666677"/>
                </a:solidFill>
                <a:latin typeface="Helvetica"/>
              </a:rPr>
              <a:t>640 × 640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5303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 i="0">
                <a:solidFill>
                  <a:srgbClr val="1A1A2E"/>
                </a:solidFill>
                <a:latin typeface="Helvetica"/>
              </a:rPr>
              <a:t>34.25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303520" y="3291840"/>
            <a:ext cx="1554480" cy="548640"/>
          </a:xfrm>
          <a:prstGeom prst="rightArrow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21945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1F6FEB"/>
                </a:solidFill>
                <a:latin typeface="Helvetica"/>
              </a:rPr>
              <a:t>800 × 800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743200"/>
            <a:ext cx="5303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 i="0">
                <a:solidFill>
                  <a:srgbClr val="2CA02C"/>
                </a:solidFill>
                <a:latin typeface="Helvetica"/>
              </a:rPr>
              <a:t>37.01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1">
                <a:solidFill>
                  <a:srgbClr val="1A1A2E"/>
                </a:solidFill>
                <a:latin typeface="Helvetica"/>
              </a:rPr>
              <a:t>+2.76 from more pixels.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666677"/>
                </a:solidFill>
                <a:latin typeface="Helvetica"/>
              </a:rPr>
              <a:t>Feedback helps. Spatial sampling helps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Strengths and 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5394960" cy="4297680"/>
          </a:xfrm>
          <a:prstGeom prst="roundRect">
            <a:avLst/>
          </a:prstGeom>
          <a:solidFill>
            <a:srgbClr val="E8F7E8"/>
          </a:solidFill>
          <a:ln w="19050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CA02C"/>
                </a:solidFill>
                <a:latin typeface="Helvetica"/>
              </a:rPr>
              <a:t>+  Strengths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6888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Causal contribution: +0.99 APₛ on the same checkpoint.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24612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Zero new parameters relative to v1.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02336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Consistent improvement on every metric (AP, APₛ, APₘ, APₗ).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0060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Robust at higher resolution (37.01 APₛ at 800×800).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394960" cy="429768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62C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D62C2E"/>
                </a:solidFill>
                <a:latin typeface="Helvetica"/>
              </a:rPr>
              <a:t>−  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46888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Single seed — multi-seed variance unmeasured.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24612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13-epoch finetune (vs 72-epoch from scratch).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02336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Floor and mask not isolated (a 2×2 ablation is missing).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80060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Helvetica"/>
              </a:rPr>
              <a:t>•  ≈2× slower than baseline (53 → 26 FPS) — cost is the P2 level.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666677"/>
                </a:solidFill>
                <a:latin typeface="Helvetica"/>
              </a:rPr>
              <a:t>Strong on accuracy; pays in inference speed. The next slide proposes a way to recover speed.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Future work: recovering inference speed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1A1A2E"/>
                </a:solidFill>
                <a:latin typeface="Helvetica"/>
              </a:rPr>
              <a:t>The 2× slowdown comes from the P2 level, not the feedback module.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657600" cy="3474720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33172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591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774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Helvetica"/>
              </a:rPr>
              <a:t>Drop P2 at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1F6FEB"/>
                </a:solidFill>
                <a:latin typeface="Helvetica"/>
              </a:rPr>
              <a:t>fastest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Helvetica"/>
              </a:rPr>
              <a:t>Test whether the +0.99 transfers to the original 3-level (P3–P5) setup.
If it does → recover ~53 FPS at no accuracy cost.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194560"/>
            <a:ext cx="3657600" cy="3474720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20" y="233172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3591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3774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Helvetica"/>
              </a:rPr>
              <a:t>Lighter P2 path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1F6FEB"/>
                </a:solidFill>
                <a:latin typeface="Helvetica"/>
              </a:rPr>
              <a:t>compromise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3832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Helvetica"/>
              </a:rPr>
              <a:t>Halve P2 channels; or use a single-conv projection instead of
the full input-projection block.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2194560"/>
            <a:ext cx="3657600" cy="3474720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12480" y="233172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3591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3774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Helvetica"/>
              </a:rPr>
              <a:t>Distill v2 → student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1F6FEB"/>
                </a:solidFill>
                <a:latin typeface="Helvetica"/>
              </a:rPr>
              <a:t>principled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3832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Helvetica"/>
              </a:rPr>
              <a:t>Knowledge-distil into a P3–P5 student network.
Teacher: full v2.  Student: baseline RT-DETR speed.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6FEB"/>
                </a:solidFill>
                <a:latin typeface="Helvetica"/>
              </a:rPr>
              <a:t>Goal: keep the +0.99 APₛ gain while approaching the 53 FPS baseline.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F6FEB"/>
                </a:solidFill>
                <a:latin typeface="Helvetica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64008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965960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93392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8745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Helvetica"/>
              </a:rPr>
              <a:t>Feedback improves small-object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68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666677"/>
                </a:solidFill>
                <a:latin typeface="Helvetica"/>
              </a:rPr>
              <a:t>+0.99 APₛ causal contribution at inference.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383280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410712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2918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Helvetica"/>
              </a:rPr>
              <a:t>Only works with proper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8862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666677"/>
                </a:solidFill>
                <a:latin typeface="Helvetica"/>
              </a:rPr>
              <a:t>Floor the gate; restrict to small-object levels.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800600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709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  <a:latin typeface="Helvetica"/>
              </a:rPr>
              <a:t>Modest but real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3035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666677"/>
                </a:solidFill>
                <a:latin typeface="Helvetica"/>
              </a:rPr>
              <a:t>Consistent across metrics; reproducible from the same checkpoint.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77"/>
                </a:solidFill>
                <a:latin typeface="Helvetica"/>
              </a:rPr>
              <a:t>5. Final Results  •  Feedback-Augmented RT-DETR  •  Hatem Saadallah &amp; Nour Jennane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677"/>
                </a:solidFill>
                <a:latin typeface="Helvetica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0" b="1" i="0">
                <a:solidFill>
                  <a:srgbClr val="1A1A2E"/>
                </a:solidFill>
                <a:latin typeface="Helvetica"/>
              </a:rPr>
              <a:t>Thank you.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0" i="0">
                <a:solidFill>
                  <a:srgbClr val="1F6FEB"/>
                </a:solidFill>
                <a:latin typeface="Helvetica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41848" y="4937760"/>
            <a:ext cx="914400" cy="5486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1A1A2E"/>
                </a:solidFill>
                <a:latin typeface="Helvetica"/>
              </a:rPr>
              <a:t>Hatem Saadallah  ·  Nour Jennane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666677"/>
                </a:solidFill>
                <a:latin typeface="Helvetica"/>
              </a:rPr>
              <a:t>github.com/HatemSaadallah/feedback-augmented-rtdetr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